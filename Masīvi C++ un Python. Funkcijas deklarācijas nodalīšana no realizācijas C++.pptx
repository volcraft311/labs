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05" r:id="rId3"/>
    <p:sldId id="306" r:id="rId4"/>
    <p:sldId id="307" r:id="rId5"/>
    <p:sldId id="332" r:id="rId6"/>
    <p:sldId id="331" r:id="rId7"/>
    <p:sldId id="281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089"/>
    <a:srgbClr val="2E2EDF"/>
    <a:srgbClr val="1F2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39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" y="288"/>
      </p:cViewPr>
      <p:guideLst>
        <p:guide orient="horz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45" d="100"/>
          <a:sy n="145" d="100"/>
        </p:scale>
        <p:origin x="629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282B2A-05B9-DA43-B020-0E17B43099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80F47-F956-A04A-B651-0BD4539C2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D6820-C90F-314A-B635-C792A02598A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E4E16-EE10-FD4C-BD38-5D3EA4A78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22654-B272-734A-8F53-4FAFEF8572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C2991-C7D9-7247-8934-6D802DBD2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6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lvenes vietturi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a vietturi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DD683-F048-40F2-8F8B-BB5C49C79AC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aida attēla vietturi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iezīmju vietturi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0BB03-6D45-4B7D-B28F-151C74B80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9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0BB03-6D45-4B7D-B28F-151C74B80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a 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 dirty="0"/>
              <a:t>Rediģēt šablona apakšvirsraksta stilu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8C710-B841-284D-A600-58291455ABCB}"/>
              </a:ext>
            </a:extLst>
          </p:cNvPr>
          <p:cNvSpPr/>
          <p:nvPr userDrawn="1"/>
        </p:nvSpPr>
        <p:spPr>
          <a:xfrm>
            <a:off x="0" y="5755342"/>
            <a:ext cx="12192000" cy="1272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A99B71F-918A-0E40-9971-A475596C83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826" y="538464"/>
            <a:ext cx="3876527" cy="13100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9B900A-6B68-0342-8952-BF3D282C41F1}"/>
              </a:ext>
            </a:extLst>
          </p:cNvPr>
          <p:cNvSpPr/>
          <p:nvPr userDrawn="1"/>
        </p:nvSpPr>
        <p:spPr>
          <a:xfrm>
            <a:off x="0" y="2316162"/>
            <a:ext cx="12192000" cy="4712167"/>
          </a:xfrm>
          <a:prstGeom prst="rect">
            <a:avLst/>
          </a:prstGeom>
          <a:solidFill>
            <a:srgbClr val="1B50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7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sat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11645929" y="6256960"/>
            <a:ext cx="605110" cy="332685"/>
          </a:xfrm>
          <a:prstGeom prst="rect">
            <a:avLst/>
          </a:prstGeom>
        </p:spPr>
        <p:txBody>
          <a:bodyPr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874D3B-0145-4B40-BC41-2631D243DC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5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daļas galv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5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vi sat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Satura vietturis 2"/>
          <p:cNvSpPr>
            <a:spLocks noGrp="1"/>
          </p:cNvSpPr>
          <p:nvPr>
            <p:ph sz="half" idx="1"/>
          </p:nvPr>
        </p:nvSpPr>
        <p:spPr>
          <a:xfrm>
            <a:off x="274319" y="1269961"/>
            <a:ext cx="5745481" cy="490700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6172200" y="1269961"/>
            <a:ext cx="5814752" cy="490700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9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līdzināj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399011" y="199506"/>
            <a:ext cx="11438313" cy="972590"/>
          </a:xfrm>
        </p:spPr>
        <p:txBody>
          <a:bodyPr/>
          <a:lstStyle/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399012" y="1426629"/>
            <a:ext cx="55985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 dirty="0"/>
              <a:t>Rediģēt šablona teksta stilus</a:t>
            </a:r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399012" y="2310938"/>
            <a:ext cx="5598564" cy="3878725"/>
          </a:xfrm>
        </p:spPr>
        <p:txBody>
          <a:bodyPr/>
          <a:lstStyle/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sp>
        <p:nvSpPr>
          <p:cNvPr id="5" name="Teksta vietturis 4"/>
          <p:cNvSpPr>
            <a:spLocks noGrp="1"/>
          </p:cNvSpPr>
          <p:nvPr>
            <p:ph type="body" sz="quarter" idx="3"/>
          </p:nvPr>
        </p:nvSpPr>
        <p:spPr>
          <a:xfrm>
            <a:off x="6172200" y="1426629"/>
            <a:ext cx="566512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6" name="Satura vietturis 5"/>
          <p:cNvSpPr>
            <a:spLocks noGrp="1"/>
          </p:cNvSpPr>
          <p:nvPr>
            <p:ph sz="quarter" idx="4"/>
          </p:nvPr>
        </p:nvSpPr>
        <p:spPr>
          <a:xfrm>
            <a:off x="6172200" y="2310938"/>
            <a:ext cx="5665124" cy="3878725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7" name="Datuma vietturis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Kājenes vietturis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aida numura vietturis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4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ai virsra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Datuma vietturis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Kājenes vietturis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aida numura vietturis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6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k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a vietturis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Kājenes vietturis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9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tur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ttēl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Attēla vietturis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6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irsraksts un vertikāls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āls virsraksts un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āls virsrakst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v-LV"/>
              <a:t>Rediģēt šablona virsraksta stilu</a:t>
            </a:r>
            <a:endParaRPr lang="en-US"/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  <a:endParaRPr lang="en-US"/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874D3B-0145-4B40-BC41-2631D243D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9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/>
          <p:cNvSpPr>
            <a:spLocks noGrp="1"/>
          </p:cNvSpPr>
          <p:nvPr>
            <p:ph type="title"/>
          </p:nvPr>
        </p:nvSpPr>
        <p:spPr>
          <a:xfrm>
            <a:off x="315882" y="517138"/>
            <a:ext cx="11712633" cy="794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 dirty="0"/>
              <a:t>Rediģēt šablona virsraksta stilu</a:t>
            </a:r>
            <a:endParaRPr lang="en-US" dirty="0"/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315882" y="1709531"/>
            <a:ext cx="11712633" cy="1928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v-LV" dirty="0"/>
              <a:t>Rediģēt šablona teksta stilus</a:t>
            </a:r>
          </a:p>
          <a:p>
            <a:pPr lvl="1"/>
            <a:r>
              <a:rPr lang="lv-LV" dirty="0"/>
              <a:t>Otrais līmenis</a:t>
            </a:r>
          </a:p>
          <a:p>
            <a:pPr lvl="2"/>
            <a:r>
              <a:rPr lang="lv-LV" dirty="0"/>
              <a:t>Trešais līmenis</a:t>
            </a:r>
          </a:p>
          <a:p>
            <a:pPr lvl="3"/>
            <a:r>
              <a:rPr lang="lv-LV" dirty="0"/>
              <a:t>Ceturtais līmenis</a:t>
            </a:r>
          </a:p>
          <a:p>
            <a:pPr lvl="4"/>
            <a:r>
              <a:rPr lang="lv-LV" dirty="0"/>
              <a:t>Piektais līmenis</a:t>
            </a:r>
            <a:endParaRPr lang="en-US" dirty="0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873" y="6095209"/>
            <a:ext cx="2027763" cy="6852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CC4F950-DFF2-F042-952F-DAC967054040}"/>
              </a:ext>
            </a:extLst>
          </p:cNvPr>
          <p:cNvSpPr/>
          <p:nvPr userDrawn="1"/>
        </p:nvSpPr>
        <p:spPr>
          <a:xfrm>
            <a:off x="0" y="6341165"/>
            <a:ext cx="9312965" cy="1999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8235B9-3821-BA42-BA6A-FE61809AEEA0}"/>
              </a:ext>
            </a:extLst>
          </p:cNvPr>
          <p:cNvSpPr/>
          <p:nvPr userDrawn="1"/>
        </p:nvSpPr>
        <p:spPr>
          <a:xfrm>
            <a:off x="11638544" y="6341164"/>
            <a:ext cx="553456" cy="1999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4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0" y="2290195"/>
            <a:ext cx="12113703" cy="3788780"/>
          </a:xfrm>
        </p:spPr>
        <p:txBody>
          <a:bodyPr>
            <a:normAutofit/>
          </a:bodyPr>
          <a:lstStyle/>
          <a:p>
            <a:r>
              <a:rPr lang="lv-L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Masīvi C++ un </a:t>
            </a:r>
            <a:r>
              <a:rPr lang="lv-LV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lv-L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lv-L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lv-LV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Funkcijas deklarācijas nodalīšana no realizācijas C++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1545631" y="6164729"/>
            <a:ext cx="7901641" cy="693271"/>
          </a:xfrm>
        </p:spPr>
        <p:txBody>
          <a:bodyPr>
            <a:normAutofit/>
          </a:bodyPr>
          <a:lstStyle/>
          <a:p>
            <a:r>
              <a:rPr lang="lv-LV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Uldis Straujums, 2026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0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4FCC-F223-C231-FB56-9CBA0F00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62EB17D-8D51-8468-CCAF-FECD861DBF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 ir masīvs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9940610E-8880-63D9-51E6-8E71EF9E34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8011" y="1595563"/>
            <a:ext cx="5055689" cy="42930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Masīvs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array</a:t>
            </a:r>
            <a:r>
              <a:rPr lang="en-US" dirty="0"/>
              <a:t>) </a:t>
            </a:r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vienāda</a:t>
            </a:r>
            <a:r>
              <a:rPr lang="en-US" dirty="0"/>
              <a:t> </a:t>
            </a:r>
            <a:r>
              <a:rPr lang="en-US" dirty="0" err="1"/>
              <a:t>tipa</a:t>
            </a:r>
            <a:r>
              <a:rPr lang="en-US" dirty="0"/>
              <a:t> </a:t>
            </a:r>
            <a:r>
              <a:rPr lang="en-US" dirty="0" err="1"/>
              <a:t>mainīgo</a:t>
            </a:r>
            <a:r>
              <a:rPr lang="en-US" dirty="0"/>
              <a:t> </a:t>
            </a:r>
            <a:r>
              <a:rPr lang="en-US" dirty="0" err="1"/>
              <a:t>virkne</a:t>
            </a:r>
            <a:r>
              <a:rPr lang="lv-LV" dirty="0"/>
              <a:t>. </a:t>
            </a:r>
          </a:p>
          <a:p>
            <a:pPr marL="0" indent="0">
              <a:buNone/>
            </a:pPr>
            <a:r>
              <a:rPr lang="lv-LV" b="1" dirty="0"/>
              <a:t>Masīvs </a:t>
            </a:r>
            <a:r>
              <a:rPr lang="lv-LV" dirty="0"/>
              <a:t>ir indeksēts atmiņas apgabals no fiksēta garuma </a:t>
            </a:r>
            <a:r>
              <a:rPr lang="en-US" dirty="0" err="1"/>
              <a:t>elementiem</a:t>
            </a:r>
            <a:r>
              <a:rPr lang="en-US" dirty="0"/>
              <a:t>.</a:t>
            </a:r>
            <a:endParaRPr lang="lv-LV" dirty="0"/>
          </a:p>
          <a:p>
            <a:pPr marL="0" indent="0">
              <a:buNone/>
            </a:pPr>
            <a:r>
              <a:rPr lang="en-US" dirty="0" err="1"/>
              <a:t>Katru</a:t>
            </a:r>
            <a:r>
              <a:rPr lang="en-US" dirty="0"/>
              <a:t> </a:t>
            </a:r>
            <a:r>
              <a:rPr lang="en-US" dirty="0" err="1"/>
              <a:t>elementu</a:t>
            </a:r>
            <a:r>
              <a:rPr lang="en-US" dirty="0"/>
              <a:t> </a:t>
            </a:r>
            <a:r>
              <a:rPr lang="en-US" dirty="0" err="1"/>
              <a:t>identificē</a:t>
            </a:r>
            <a:r>
              <a:rPr lang="en-US" dirty="0"/>
              <a:t> </a:t>
            </a:r>
            <a:r>
              <a:rPr lang="en-US" b="1" dirty="0" err="1"/>
              <a:t>indekss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skaitlis</a:t>
            </a:r>
            <a:r>
              <a:rPr lang="en-US" dirty="0"/>
              <a:t>,</a:t>
            </a:r>
            <a:r>
              <a:rPr lang="lv-LV" dirty="0"/>
              <a:t> </a:t>
            </a:r>
            <a:r>
              <a:rPr lang="en-US" dirty="0"/>
              <a:t>kas </a:t>
            </a:r>
            <a:r>
              <a:rPr lang="en-US" dirty="0" err="1"/>
              <a:t>norāda</a:t>
            </a:r>
            <a:r>
              <a:rPr lang="en-US" dirty="0"/>
              <a:t>, pie </a:t>
            </a:r>
            <a:r>
              <a:rPr lang="en-US" dirty="0" err="1"/>
              <a:t>kura</a:t>
            </a:r>
            <a:r>
              <a:rPr lang="en-US" dirty="0"/>
              <a:t> no </a:t>
            </a:r>
            <a:r>
              <a:rPr lang="en-US" dirty="0" err="1"/>
              <a:t>elementiem</a:t>
            </a:r>
            <a:r>
              <a:rPr lang="en-US" dirty="0"/>
              <a:t> </a:t>
            </a:r>
            <a:r>
              <a:rPr lang="en-US" dirty="0" err="1"/>
              <a:t>vēršas</a:t>
            </a:r>
            <a:r>
              <a:rPr lang="en-US" dirty="0"/>
              <a:t> </a:t>
            </a:r>
            <a:r>
              <a:rPr lang="en-US" dirty="0" err="1"/>
              <a:t>lietotājs</a:t>
            </a:r>
            <a:r>
              <a:rPr lang="en-US" dirty="0"/>
              <a:t>.</a:t>
            </a:r>
            <a:endParaRPr lang="lv-LV" dirty="0"/>
          </a:p>
          <a:p>
            <a:pPr marL="0" indent="0">
              <a:buNone/>
            </a:pPr>
            <a:r>
              <a:rPr lang="lv-LV" sz="2400" b="1" dirty="0"/>
              <a:t>Masīva elements </a:t>
            </a:r>
            <a:r>
              <a:rPr lang="en-US" sz="2400" b="1" dirty="0" err="1"/>
              <a:t>i</a:t>
            </a:r>
            <a:r>
              <a:rPr lang="lv-LV" sz="2400" b="1" dirty="0"/>
              <a:t>r mainīgais ar izrēķināmu vārdu!</a:t>
            </a:r>
          </a:p>
          <a:p>
            <a:pPr marL="0" indent="0">
              <a:buNone/>
            </a:pPr>
            <a:r>
              <a:rPr lang="en-US" sz="2600" dirty="0"/>
              <a:t>int </a:t>
            </a:r>
            <a:r>
              <a:rPr lang="en-US" sz="2600" dirty="0" err="1"/>
              <a:t>arr</a:t>
            </a:r>
            <a:r>
              <a:rPr lang="en-US" sz="2600" dirty="0"/>
              <a:t>[5] = {56,1234,-67,0,1000};</a:t>
            </a:r>
            <a:endParaRPr lang="lv-LV" sz="2600" dirty="0"/>
          </a:p>
          <a:p>
            <a:pPr marL="0" indent="0">
              <a:buNone/>
            </a:pPr>
            <a:r>
              <a:rPr lang="lv-LV" sz="2600" dirty="0" err="1"/>
              <a:t>int</a:t>
            </a:r>
            <a:r>
              <a:rPr lang="lv-LV" sz="2600" dirty="0"/>
              <a:t> i = 1; </a:t>
            </a:r>
            <a:r>
              <a:rPr lang="lv-LV" sz="2600" dirty="0" err="1"/>
              <a:t>cout</a:t>
            </a:r>
            <a:r>
              <a:rPr lang="lv-LV" sz="2600" dirty="0"/>
              <a:t> &lt;&lt; arr[i+3];  /// 1000</a:t>
            </a:r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7F3E74FF-80D8-3A48-C330-0FC72308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A33A7-222E-1140-2D97-A430766418EF}"/>
              </a:ext>
            </a:extLst>
          </p:cNvPr>
          <p:cNvSpPr txBox="1"/>
          <p:nvPr/>
        </p:nvSpPr>
        <p:spPr>
          <a:xfrm>
            <a:off x="6117771" y="342523"/>
            <a:ext cx="607422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Saraksts</a:t>
            </a:r>
            <a:r>
              <a:rPr lang="en-US" sz="2400" dirty="0"/>
              <a:t> </a:t>
            </a:r>
            <a:r>
              <a:rPr lang="en-US" sz="2400" dirty="0" err="1"/>
              <a:t>valodā</a:t>
            </a:r>
            <a:r>
              <a:rPr lang="en-US" sz="2400" dirty="0"/>
              <a:t> Python </a:t>
            </a:r>
            <a:r>
              <a:rPr lang="en-US" sz="2400" dirty="0" err="1"/>
              <a:t>atbilst</a:t>
            </a:r>
            <a:r>
              <a:rPr lang="en-US" sz="2400" dirty="0"/>
              <a:t> </a:t>
            </a:r>
            <a:r>
              <a:rPr lang="en-US" sz="2400" dirty="0" err="1"/>
              <a:t>masīva</a:t>
            </a:r>
            <a:r>
              <a:rPr lang="en-US" sz="2400" dirty="0"/>
              <a:t> </a:t>
            </a:r>
            <a:r>
              <a:rPr lang="en-US" sz="2400" dirty="0" err="1"/>
              <a:t>jēdzienam</a:t>
            </a:r>
            <a:r>
              <a:rPr lang="en-US" sz="2400" dirty="0"/>
              <a:t> </a:t>
            </a:r>
            <a:r>
              <a:rPr lang="en-US" sz="2400" dirty="0" err="1"/>
              <a:t>citās</a:t>
            </a:r>
            <a:r>
              <a:rPr lang="en-US" sz="2400" dirty="0"/>
              <a:t> </a:t>
            </a:r>
            <a:r>
              <a:rPr lang="en-US" sz="2400" dirty="0" err="1"/>
              <a:t>programmēšanas</a:t>
            </a:r>
            <a:r>
              <a:rPr lang="en-US" sz="2400" dirty="0"/>
              <a:t> </a:t>
            </a:r>
            <a:r>
              <a:rPr lang="en-US" sz="2400" dirty="0" err="1"/>
              <a:t>valodās</a:t>
            </a:r>
            <a:r>
              <a:rPr lang="en-US" sz="2400" dirty="0"/>
              <a:t>.</a:t>
            </a:r>
            <a:endParaRPr lang="lv-LV" sz="2400" dirty="0"/>
          </a:p>
          <a:p>
            <a:endParaRPr lang="lv-LV" sz="2400" dirty="0"/>
          </a:p>
          <a:p>
            <a:pPr>
              <a:lnSpc>
                <a:spcPct val="80000"/>
              </a:lnSpc>
            </a:pPr>
            <a:r>
              <a:rPr lang="en-US" sz="2800" b="1" dirty="0" err="1"/>
              <a:t>Saraksts</a:t>
            </a:r>
            <a:r>
              <a:rPr lang="en-US" sz="2800" dirty="0"/>
              <a:t> (list) </a:t>
            </a:r>
            <a:r>
              <a:rPr lang="en-US" sz="2800" dirty="0" err="1"/>
              <a:t>ir</a:t>
            </a:r>
            <a:r>
              <a:rPr lang="en-US" sz="2800" dirty="0"/>
              <a:t> </a:t>
            </a:r>
            <a:r>
              <a:rPr lang="en-US" sz="2800" dirty="0" err="1"/>
              <a:t>indeksēta</a:t>
            </a:r>
            <a:r>
              <a:rPr lang="en-US" sz="2800" dirty="0"/>
              <a:t> </a:t>
            </a:r>
            <a:r>
              <a:rPr lang="en-US" sz="2800" dirty="0" err="1"/>
              <a:t>elementu</a:t>
            </a:r>
            <a:r>
              <a:rPr lang="en-US" sz="2800" dirty="0"/>
              <a:t> </a:t>
            </a:r>
            <a:r>
              <a:rPr lang="en-US" sz="2800" dirty="0" err="1"/>
              <a:t>virkne</a:t>
            </a:r>
            <a:r>
              <a:rPr lang="en-US" sz="2800" dirty="0"/>
              <a:t>.</a:t>
            </a:r>
            <a:endParaRPr lang="lv-LV" sz="2800" dirty="0"/>
          </a:p>
          <a:p>
            <a:pPr>
              <a:lnSpc>
                <a:spcPct val="80000"/>
              </a:lnSpc>
            </a:pPr>
            <a:r>
              <a:rPr lang="en-US" sz="2800" dirty="0" err="1"/>
              <a:t>Katru</a:t>
            </a:r>
            <a:r>
              <a:rPr lang="en-US" sz="2800" dirty="0"/>
              <a:t> </a:t>
            </a:r>
            <a:r>
              <a:rPr lang="en-US" sz="2800" dirty="0" err="1"/>
              <a:t>elementu</a:t>
            </a:r>
            <a:r>
              <a:rPr lang="en-US" sz="2800" dirty="0"/>
              <a:t> </a:t>
            </a:r>
            <a:r>
              <a:rPr lang="en-US" sz="2800" dirty="0" err="1"/>
              <a:t>identificē</a:t>
            </a:r>
            <a:r>
              <a:rPr lang="en-US" sz="2800" dirty="0"/>
              <a:t> </a:t>
            </a:r>
            <a:r>
              <a:rPr lang="en-US" sz="2800" b="1" dirty="0" err="1"/>
              <a:t>indekss</a:t>
            </a:r>
            <a:r>
              <a:rPr lang="en-US" sz="2800" b="1" dirty="0"/>
              <a:t> </a:t>
            </a:r>
            <a:r>
              <a:rPr lang="en-US" sz="2800" dirty="0"/>
              <a:t>– </a:t>
            </a:r>
            <a:r>
              <a:rPr lang="en-US" sz="2800" dirty="0" err="1"/>
              <a:t>skaitlis</a:t>
            </a:r>
            <a:r>
              <a:rPr lang="en-US" sz="2800" dirty="0"/>
              <a:t>,</a:t>
            </a:r>
            <a:r>
              <a:rPr lang="lv-LV" sz="2800" dirty="0"/>
              <a:t> </a:t>
            </a:r>
            <a:r>
              <a:rPr lang="en-US" sz="2800" dirty="0"/>
              <a:t>kas </a:t>
            </a:r>
            <a:r>
              <a:rPr lang="en-US" sz="2800" dirty="0" err="1"/>
              <a:t>norāda</a:t>
            </a:r>
            <a:r>
              <a:rPr lang="en-US" sz="2800" dirty="0"/>
              <a:t>, pie </a:t>
            </a:r>
            <a:r>
              <a:rPr lang="en-US" sz="2800" dirty="0" err="1"/>
              <a:t>kura</a:t>
            </a:r>
            <a:r>
              <a:rPr lang="en-US" sz="2800" dirty="0"/>
              <a:t> no </a:t>
            </a:r>
            <a:r>
              <a:rPr lang="en-US" sz="2800" dirty="0" err="1"/>
              <a:t>elementiem</a:t>
            </a:r>
            <a:r>
              <a:rPr lang="en-US" sz="2800" dirty="0"/>
              <a:t> </a:t>
            </a:r>
            <a:r>
              <a:rPr lang="en-US" sz="2800" dirty="0" err="1"/>
              <a:t>vēršas</a:t>
            </a:r>
            <a:r>
              <a:rPr lang="en-US" sz="2800" dirty="0"/>
              <a:t> </a:t>
            </a:r>
            <a:r>
              <a:rPr lang="en-US" sz="2800" dirty="0" err="1"/>
              <a:t>lietotājs</a:t>
            </a:r>
            <a:r>
              <a:rPr lang="en-US" sz="2800" dirty="0"/>
              <a:t>.</a:t>
            </a:r>
            <a:br>
              <a:rPr lang="lv-LV" sz="2800" dirty="0"/>
            </a:br>
            <a:r>
              <a:rPr lang="lv-LV" sz="2200" b="1" dirty="0"/>
              <a:t>Saraksta elements </a:t>
            </a:r>
            <a:r>
              <a:rPr lang="en-US" sz="2200" b="1" dirty="0" err="1"/>
              <a:t>i</a:t>
            </a:r>
            <a:r>
              <a:rPr lang="lv-LV" sz="2200" b="1" dirty="0"/>
              <a:t>r mainīgais ar izrēķināmu vārdu!</a:t>
            </a:r>
            <a:endParaRPr lang="lv-LV" sz="2800" b="1" dirty="0"/>
          </a:p>
          <a:p>
            <a:pPr>
              <a:lnSpc>
                <a:spcPct val="80000"/>
              </a:lnSpc>
            </a:pPr>
            <a:r>
              <a:rPr lang="en-US" sz="2800" dirty="0" err="1"/>
              <a:t>Saraksts</a:t>
            </a:r>
            <a:r>
              <a:rPr lang="en-US" sz="2800" dirty="0"/>
              <a:t> var </a:t>
            </a:r>
            <a:r>
              <a:rPr lang="en-US" sz="2800" dirty="0" err="1"/>
              <a:t>sastāvēt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no </a:t>
            </a:r>
            <a:r>
              <a:rPr lang="en-US" sz="2800" dirty="0" err="1"/>
              <a:t>dažādu</a:t>
            </a:r>
            <a:r>
              <a:rPr lang="en-US" sz="2800" dirty="0"/>
              <a:t> </a:t>
            </a:r>
            <a:r>
              <a:rPr lang="en-US" sz="2800" dirty="0" err="1"/>
              <a:t>tipu</a:t>
            </a:r>
            <a:r>
              <a:rPr lang="en-US" sz="2800" dirty="0"/>
              <a:t> </a:t>
            </a:r>
            <a:r>
              <a:rPr lang="en-US" sz="2800" dirty="0" err="1"/>
              <a:t>elementiem</a:t>
            </a:r>
            <a:r>
              <a:rPr lang="en-US" sz="2800" dirty="0"/>
              <a:t> </a:t>
            </a:r>
            <a:r>
              <a:rPr lang="en-US" sz="2800" dirty="0" err="1"/>
              <a:t>vienlaikus</a:t>
            </a:r>
            <a:r>
              <a:rPr lang="lv-LV" sz="2800" dirty="0"/>
              <a:t>.</a:t>
            </a:r>
          </a:p>
          <a:p>
            <a:pPr>
              <a:lnSpc>
                <a:spcPct val="80000"/>
              </a:lnSpc>
            </a:pPr>
            <a:endParaRPr lang="lv-LV" sz="2800" dirty="0"/>
          </a:p>
          <a:p>
            <a:pPr>
              <a:lnSpc>
                <a:spcPct val="80000"/>
              </a:lnSpc>
            </a:pPr>
            <a:r>
              <a:rPr lang="fi-FI" sz="2400" dirty="0"/>
              <a:t>aa = [5,6,8,'Hello',[7,9,'LU'],0.999]</a:t>
            </a:r>
            <a:endParaRPr lang="lv-LV" sz="2400" dirty="0"/>
          </a:p>
          <a:p>
            <a:pPr>
              <a:lnSpc>
                <a:spcPct val="80000"/>
              </a:lnSpc>
            </a:pPr>
            <a:r>
              <a:rPr lang="lv-LV" sz="2400" dirty="0"/>
              <a:t>i=1 </a:t>
            </a:r>
          </a:p>
          <a:p>
            <a:pPr>
              <a:lnSpc>
                <a:spcPct val="80000"/>
              </a:lnSpc>
            </a:pPr>
            <a:r>
              <a:rPr lang="lv-LV" sz="2400" dirty="0"/>
              <a:t>print(aa[i+3] # </a:t>
            </a:r>
            <a:r>
              <a:rPr lang="fi-FI" sz="2400" dirty="0"/>
              <a:t>[7,9,'LU']</a:t>
            </a:r>
            <a:endParaRPr lang="lv-LV" sz="2400" dirty="0"/>
          </a:p>
          <a:p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6DF8D-9D1A-7B76-8F30-408152247C29}"/>
              </a:ext>
            </a:extLst>
          </p:cNvPr>
          <p:cNvSpPr txBox="1"/>
          <p:nvPr/>
        </p:nvSpPr>
        <p:spPr>
          <a:xfrm>
            <a:off x="7569200" y="5959445"/>
            <a:ext cx="947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000" b="1" dirty="0" err="1"/>
              <a:t>Python</a:t>
            </a:r>
            <a:endParaRPr 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D6BF9-58AD-1032-ED74-F47C69AE8CA7}"/>
              </a:ext>
            </a:extLst>
          </p:cNvPr>
          <p:cNvSpPr txBox="1"/>
          <p:nvPr/>
        </p:nvSpPr>
        <p:spPr>
          <a:xfrm>
            <a:off x="1846443" y="5888657"/>
            <a:ext cx="580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000" b="1" dirty="0"/>
              <a:t>C++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7863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4FCC-F223-C231-FB56-9CBA0F00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62EB17D-8D51-8468-CCAF-FECD861DBF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Masīva noderīgums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9940610E-8880-63D9-51E6-8E71EF9E34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8011" y="1709531"/>
            <a:ext cx="5284290" cy="1274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sz="2400" dirty="0"/>
              <a:t>Ir uzdevumi, kurus ir </a:t>
            </a:r>
            <a:r>
              <a:rPr lang="lv-LV" sz="2400" b="1" dirty="0"/>
              <a:t>viegli</a:t>
            </a:r>
            <a:r>
              <a:rPr lang="lv-LV" sz="2400" dirty="0"/>
              <a:t> atrisināt, lietojot </a:t>
            </a:r>
            <a:r>
              <a:rPr lang="lv-LV" sz="2400" b="1" dirty="0"/>
              <a:t>masīvu</a:t>
            </a:r>
            <a:r>
              <a:rPr lang="lv-LV" sz="2400" dirty="0"/>
              <a:t>, bet sarežģīti atrisināt bez masīva.</a:t>
            </a:r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7F3E74FF-80D8-3A48-C330-0FC72308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43702" y="953174"/>
            <a:ext cx="425449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2400" b="1" dirty="0"/>
              <a:t>AuPLe0601 risinājums ar masīvu</a:t>
            </a:r>
          </a:p>
          <a:p>
            <a:endParaRPr lang="lv-LV" dirty="0"/>
          </a:p>
          <a:p>
            <a:pPr marL="342900" indent="-342900">
              <a:buAutoNum type="arabicPeriod"/>
            </a:pPr>
            <a:r>
              <a:rPr lang="lv-LV" sz="2400" dirty="0"/>
              <a:t>Saņem no lietotāja skaitļu skaitu n.</a:t>
            </a:r>
          </a:p>
          <a:p>
            <a:pPr marL="342900" indent="-342900">
              <a:buAutoNum type="arabicPeriod"/>
            </a:pPr>
            <a:r>
              <a:rPr lang="lv-LV" sz="2400" dirty="0"/>
              <a:t>Ievada masīvā </a:t>
            </a:r>
            <a:r>
              <a:rPr lang="lv-LV" sz="2400" dirty="0" err="1"/>
              <a:t>mas</a:t>
            </a:r>
            <a:r>
              <a:rPr lang="lv-LV" sz="2400" dirty="0"/>
              <a:t> n veselus skaitļus, nosakot lielākā skaitļa indeksu </a:t>
            </a:r>
            <a:r>
              <a:rPr lang="lv-LV" sz="2400" dirty="0" err="1"/>
              <a:t>iliel</a:t>
            </a:r>
            <a:r>
              <a:rPr lang="lv-LV" sz="2400" dirty="0"/>
              <a:t>.</a:t>
            </a:r>
          </a:p>
          <a:p>
            <a:pPr marL="342900" indent="-342900">
              <a:buAutoNum type="arabicPeriod"/>
            </a:pPr>
            <a:r>
              <a:rPr lang="lv-LV" sz="2400" dirty="0"/>
              <a:t>Izdrukā masīva </a:t>
            </a:r>
            <a:r>
              <a:rPr lang="lv-LV" sz="2400" dirty="0" err="1"/>
              <a:t>mas</a:t>
            </a:r>
            <a:r>
              <a:rPr lang="lv-LV" sz="2400" dirty="0"/>
              <a:t> skaitļus līdz masīva elementam ar indeksu </a:t>
            </a:r>
            <a:r>
              <a:rPr lang="lv-LV" sz="2400" dirty="0" err="1"/>
              <a:t>iliel</a:t>
            </a:r>
            <a:r>
              <a:rPr lang="lv-LV" sz="2400" dirty="0"/>
              <a:t>.</a:t>
            </a:r>
          </a:p>
        </p:txBody>
      </p:sp>
      <p:sp>
        <p:nvSpPr>
          <p:cNvPr id="6" name="Satura vietturis 2">
            <a:extLst>
              <a:ext uri="{FF2B5EF4-FFF2-40B4-BE49-F238E27FC236}">
                <a16:creationId xmlns:a16="http://schemas.microsoft.com/office/drawing/2014/main" id="{C4B3BD9A-C86B-4DC6-8D11-40DE2640A84A}"/>
              </a:ext>
            </a:extLst>
          </p:cNvPr>
          <p:cNvSpPr txBox="1">
            <a:spLocks/>
          </p:cNvSpPr>
          <p:nvPr/>
        </p:nvSpPr>
        <p:spPr>
          <a:xfrm>
            <a:off x="316411" y="2845649"/>
            <a:ext cx="5284290" cy="12749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lv-LV" sz="2400" dirty="0"/>
              <a:t>Piemēram, AuPLe0601. Ievadīt n veselus skaitļus un izdrukāt tos, izdruku beidzot tad,</a:t>
            </a:r>
          </a:p>
          <a:p>
            <a:pPr marL="0" indent="0">
              <a:buNone/>
            </a:pPr>
            <a:r>
              <a:rPr lang="lv-LV" sz="2400" dirty="0"/>
              <a:t>kad izdrukāts lielākais no skaitļiem.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C269B-4B98-B70B-A5D9-45D4CFFAB5D8}"/>
              </a:ext>
            </a:extLst>
          </p:cNvPr>
          <p:cNvSpPr txBox="1"/>
          <p:nvPr/>
        </p:nvSpPr>
        <p:spPr>
          <a:xfrm>
            <a:off x="6286500" y="5312618"/>
            <a:ext cx="44798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200" dirty="0"/>
              <a:t>C++ realizāciju skatiet AuPLe0601.cpp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6750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4FCC-F223-C231-FB56-9CBA0F00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62EB17D-8D51-8468-CCAF-FECD861DBF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Statisks masīvs un dinamisks masīvs C++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9940610E-8880-63D9-51E6-8E71EF9E34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8011" y="1709531"/>
            <a:ext cx="5076778" cy="188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b="1" dirty="0"/>
              <a:t>S</a:t>
            </a:r>
            <a:r>
              <a:rPr lang="en-US" b="1" dirty="0" err="1"/>
              <a:t>tatisks</a:t>
            </a:r>
            <a:r>
              <a:rPr lang="en-US" b="1" dirty="0"/>
              <a:t> </a:t>
            </a:r>
            <a:r>
              <a:rPr lang="en-US" b="1" dirty="0" err="1"/>
              <a:t>masīvs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static array</a:t>
            </a:r>
            <a:r>
              <a:rPr lang="en-US" dirty="0"/>
              <a:t>) – </a:t>
            </a:r>
            <a:r>
              <a:rPr lang="en-US" dirty="0" err="1"/>
              <a:t>tāds</a:t>
            </a:r>
            <a:r>
              <a:rPr lang="lv-LV" dirty="0"/>
              <a:t> masīvs</a:t>
            </a:r>
            <a:r>
              <a:rPr lang="en-US" dirty="0"/>
              <a:t>, </a:t>
            </a:r>
            <a:r>
              <a:rPr lang="en-US" dirty="0" err="1"/>
              <a:t>kura</a:t>
            </a:r>
            <a:r>
              <a:rPr lang="en-US" dirty="0"/>
              <a:t> </a:t>
            </a:r>
            <a:r>
              <a:rPr lang="en-US" dirty="0" err="1"/>
              <a:t>elementu</a:t>
            </a:r>
            <a:r>
              <a:rPr lang="en-US" dirty="0"/>
              <a:t> </a:t>
            </a:r>
            <a:r>
              <a:rPr lang="en-US" dirty="0" err="1"/>
              <a:t>skaits</a:t>
            </a:r>
            <a:r>
              <a:rPr lang="en-US" dirty="0"/>
              <a:t> </a:t>
            </a:r>
            <a:r>
              <a:rPr lang="en-US" dirty="0" err="1"/>
              <a:t>ir</a:t>
            </a:r>
            <a:r>
              <a:rPr lang="lv-LV" dirty="0"/>
              <a:t> </a:t>
            </a:r>
            <a:r>
              <a:rPr lang="sv-SE" dirty="0"/>
              <a:t>zināms kompilēšanas (programmas rakstīšanas) brīdī.</a:t>
            </a:r>
            <a:endParaRPr lang="lv-LV" dirty="0"/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endParaRPr lang="lv-LV" sz="2400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7F3E74FF-80D8-3A48-C330-0FC72308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A33A7-222E-1140-2D97-A430766418EF}"/>
              </a:ext>
            </a:extLst>
          </p:cNvPr>
          <p:cNvSpPr txBox="1"/>
          <p:nvPr/>
        </p:nvSpPr>
        <p:spPr>
          <a:xfrm>
            <a:off x="6081779" y="1709531"/>
            <a:ext cx="5886692" cy="202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2800" b="1" dirty="0"/>
              <a:t>Dinam</a:t>
            </a:r>
            <a:r>
              <a:rPr lang="en-US" sz="2800" b="1" dirty="0" err="1"/>
              <a:t>isks</a:t>
            </a:r>
            <a:r>
              <a:rPr lang="en-US" sz="2800" b="1" dirty="0"/>
              <a:t> </a:t>
            </a:r>
            <a:r>
              <a:rPr lang="en-US" sz="2800" b="1" dirty="0" err="1"/>
              <a:t>masīvs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lv-LV" sz="2800" i="1" dirty="0" err="1"/>
              <a:t>dynamic</a:t>
            </a:r>
            <a:r>
              <a:rPr lang="en-US" sz="2800" i="1" dirty="0" err="1"/>
              <a:t>ic</a:t>
            </a:r>
            <a:r>
              <a:rPr lang="en-US" sz="2800" i="1" dirty="0"/>
              <a:t> array</a:t>
            </a:r>
            <a:r>
              <a:rPr lang="en-US" sz="2800" dirty="0"/>
              <a:t>) – </a:t>
            </a:r>
            <a:r>
              <a:rPr lang="en-US" sz="2800" dirty="0" err="1"/>
              <a:t>tāds</a:t>
            </a:r>
            <a:r>
              <a:rPr lang="lv-LV" sz="2800" dirty="0"/>
              <a:t> masīvs</a:t>
            </a:r>
            <a:r>
              <a:rPr lang="en-US" sz="2800" dirty="0"/>
              <a:t>, </a:t>
            </a:r>
            <a:r>
              <a:rPr lang="en-US" sz="2800" dirty="0" err="1"/>
              <a:t>kura</a:t>
            </a:r>
            <a:r>
              <a:rPr lang="en-US" sz="2800" dirty="0"/>
              <a:t> </a:t>
            </a:r>
            <a:r>
              <a:rPr lang="en-US" sz="2800" dirty="0" err="1"/>
              <a:t>elementu</a:t>
            </a:r>
            <a:r>
              <a:rPr lang="en-US" sz="2800" dirty="0"/>
              <a:t> </a:t>
            </a:r>
            <a:r>
              <a:rPr lang="en-US" sz="2800" dirty="0" err="1"/>
              <a:t>skaits</a:t>
            </a:r>
            <a:r>
              <a:rPr lang="en-US" sz="2800" dirty="0"/>
              <a:t> </a:t>
            </a:r>
            <a:r>
              <a:rPr lang="en-US" sz="2800" dirty="0" err="1"/>
              <a:t>ir</a:t>
            </a:r>
            <a:r>
              <a:rPr lang="lv-LV" sz="2800" dirty="0"/>
              <a:t> </a:t>
            </a:r>
            <a:r>
              <a:rPr lang="sv-SE" sz="2800" dirty="0"/>
              <a:t>zināms </a:t>
            </a:r>
            <a:r>
              <a:rPr lang="lv-LV" sz="2800" dirty="0"/>
              <a:t>tikai programmas izpildes </a:t>
            </a:r>
            <a:r>
              <a:rPr lang="sv-SE" sz="2800" dirty="0"/>
              <a:t>brīdī.</a:t>
            </a:r>
            <a:endParaRPr lang="lv-LV" sz="2800" dirty="0"/>
          </a:p>
          <a:p>
            <a:endParaRPr lang="lv-LV" sz="2000" dirty="0"/>
          </a:p>
          <a:p>
            <a:pPr>
              <a:lnSpc>
                <a:spcPct val="80000"/>
              </a:lnSpc>
            </a:pPr>
            <a:endParaRPr lang="en-US" sz="2600" dirty="0"/>
          </a:p>
        </p:txBody>
      </p:sp>
      <p:sp>
        <p:nvSpPr>
          <p:cNvPr id="8" name="TextBox 7"/>
          <p:cNvSpPr txBox="1"/>
          <p:nvPr/>
        </p:nvSpPr>
        <p:spPr>
          <a:xfrm>
            <a:off x="418011" y="4404221"/>
            <a:ext cx="4141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 </a:t>
            </a:r>
            <a:r>
              <a:rPr lang="en-US" sz="2000" dirty="0" err="1"/>
              <a:t>arr</a:t>
            </a:r>
            <a:r>
              <a:rPr lang="en-US" sz="2000" dirty="0"/>
              <a:t>[5];</a:t>
            </a:r>
            <a:endParaRPr lang="lv-LV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184699" y="3098056"/>
            <a:ext cx="56808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int </a:t>
            </a:r>
            <a:r>
              <a:rPr lang="en-US" sz="2000" dirty="0" err="1"/>
              <a:t>arr_size</a:t>
            </a:r>
            <a:r>
              <a:rPr lang="en-US" sz="2000" dirty="0"/>
              <a:t>; </a:t>
            </a:r>
            <a:r>
              <a:rPr lang="en-US" sz="2000" i="1" dirty="0"/>
              <a:t>// </a:t>
            </a:r>
            <a:r>
              <a:rPr lang="en-US" sz="2000" i="1" dirty="0" err="1"/>
              <a:t>masīva</a:t>
            </a:r>
            <a:r>
              <a:rPr lang="en-US" sz="2000" i="1" dirty="0"/>
              <a:t> </a:t>
            </a:r>
            <a:r>
              <a:rPr lang="en-US" sz="2000" i="1" dirty="0" err="1"/>
              <a:t>izmērs</a:t>
            </a:r>
            <a:endParaRPr lang="en-US" sz="2000" i="1" dirty="0"/>
          </a:p>
          <a:p>
            <a:r>
              <a:rPr lang="sv-SE" sz="2000" dirty="0"/>
              <a:t>cin &gt;&gt; arr_size; </a:t>
            </a:r>
            <a:r>
              <a:rPr lang="sv-SE" sz="2000" i="1" dirty="0"/>
              <a:t>// </a:t>
            </a:r>
            <a:r>
              <a:rPr lang="lv-LV" sz="2000" i="1" dirty="0"/>
              <a:t>vajadzīgais elementu skaits masīvā</a:t>
            </a:r>
            <a:endParaRPr lang="sv-SE" sz="2000" i="1" dirty="0"/>
          </a:p>
          <a:p>
            <a:r>
              <a:rPr lang="en-US" sz="2000" dirty="0"/>
              <a:t>int *</a:t>
            </a:r>
            <a:r>
              <a:rPr lang="en-US" sz="2000" dirty="0" err="1"/>
              <a:t>arr</a:t>
            </a:r>
            <a:r>
              <a:rPr lang="en-US" sz="2000" dirty="0"/>
              <a:t>; </a:t>
            </a:r>
            <a:r>
              <a:rPr lang="en-US" sz="2000" i="1" dirty="0"/>
              <a:t>// </a:t>
            </a:r>
            <a:r>
              <a:rPr lang="en-US" sz="2000" i="1" dirty="0" err="1"/>
              <a:t>masīva</a:t>
            </a:r>
            <a:r>
              <a:rPr lang="en-US" sz="2000" i="1" dirty="0"/>
              <a:t> </a:t>
            </a:r>
            <a:r>
              <a:rPr lang="en-US" sz="2000" i="1" dirty="0" err="1"/>
              <a:t>mainīgā</a:t>
            </a:r>
            <a:r>
              <a:rPr lang="en-US" sz="2000" i="1" dirty="0"/>
              <a:t> </a:t>
            </a:r>
            <a:r>
              <a:rPr lang="en-US" sz="2000" i="1" dirty="0" err="1"/>
              <a:t>deklarēšana</a:t>
            </a:r>
            <a:endParaRPr lang="en-US" sz="2000" i="1" dirty="0"/>
          </a:p>
          <a:p>
            <a:r>
              <a:rPr lang="en-US" sz="2000" dirty="0" err="1"/>
              <a:t>arr</a:t>
            </a:r>
            <a:r>
              <a:rPr lang="en-US" sz="2000" dirty="0"/>
              <a:t> = new int [</a:t>
            </a:r>
            <a:r>
              <a:rPr lang="en-US" sz="2000" dirty="0" err="1"/>
              <a:t>arr_size</a:t>
            </a:r>
            <a:r>
              <a:rPr lang="en-US" sz="2000" dirty="0"/>
              <a:t>]; </a:t>
            </a:r>
            <a:r>
              <a:rPr lang="en-US" sz="2000" i="1" dirty="0"/>
              <a:t>// </a:t>
            </a:r>
            <a:r>
              <a:rPr lang="en-US" sz="2000" i="1" dirty="0" err="1"/>
              <a:t>masīva</a:t>
            </a:r>
            <a:r>
              <a:rPr lang="en-US" sz="2000" i="1" dirty="0"/>
              <a:t> </a:t>
            </a:r>
            <a:r>
              <a:rPr lang="en-US" sz="2000" i="1" dirty="0" err="1"/>
              <a:t>izveidošana</a:t>
            </a:r>
            <a:endParaRPr lang="en-US" sz="2000" i="1" dirty="0"/>
          </a:p>
          <a:p>
            <a:r>
              <a:rPr lang="en-US" sz="2000" i="1" dirty="0"/>
              <a:t>// </a:t>
            </a:r>
            <a:r>
              <a:rPr lang="en-US" sz="2000" i="1" dirty="0" err="1"/>
              <a:t>masīva</a:t>
            </a:r>
            <a:r>
              <a:rPr lang="en-US" sz="2000" i="1" dirty="0"/>
              <a:t> </a:t>
            </a:r>
            <a:r>
              <a:rPr lang="en-US" sz="2000" i="1" dirty="0" err="1"/>
              <a:t>izmantošana</a:t>
            </a:r>
            <a:endParaRPr lang="en-US" sz="2000" i="1" dirty="0"/>
          </a:p>
          <a:p>
            <a:r>
              <a:rPr lang="en-US" sz="2000" dirty="0"/>
              <a:t>delete[] </a:t>
            </a:r>
            <a:r>
              <a:rPr lang="en-US" sz="2000" dirty="0" err="1"/>
              <a:t>arr</a:t>
            </a:r>
            <a:r>
              <a:rPr lang="en-US" sz="2000" dirty="0"/>
              <a:t>; </a:t>
            </a:r>
            <a:r>
              <a:rPr lang="en-US" sz="2000" i="1" dirty="0"/>
              <a:t>// </a:t>
            </a:r>
            <a:r>
              <a:rPr lang="en-US" sz="2000" i="1" dirty="0" err="1"/>
              <a:t>masīva</a:t>
            </a:r>
            <a:r>
              <a:rPr lang="en-US" sz="2000" i="1" dirty="0"/>
              <a:t> </a:t>
            </a:r>
            <a:r>
              <a:rPr lang="en-US" sz="2000" i="1" dirty="0" err="1"/>
              <a:t>iznīcināšana</a:t>
            </a:r>
            <a:endParaRPr lang="lv-LV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9A071-F455-42F2-0FBC-AC2B43F11A0E}"/>
              </a:ext>
            </a:extLst>
          </p:cNvPr>
          <p:cNvSpPr txBox="1"/>
          <p:nvPr/>
        </p:nvSpPr>
        <p:spPr>
          <a:xfrm>
            <a:off x="6184699" y="5037048"/>
            <a:ext cx="50946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Daži C++ kompilatori atļauj  C++ valodas standartam </a:t>
            </a:r>
            <a:br>
              <a:rPr lang="lv-LV" dirty="0"/>
            </a:br>
            <a:r>
              <a:rPr lang="lv-LV" b="1" dirty="0"/>
              <a:t>neatbilstošu </a:t>
            </a:r>
            <a:r>
              <a:rPr lang="lv-LV" dirty="0"/>
              <a:t>konstrukciju:</a:t>
            </a:r>
            <a:br>
              <a:rPr lang="lv-LV" dirty="0"/>
            </a:br>
            <a:r>
              <a:rPr lang="lv-LV" dirty="0"/>
              <a:t>Int </a:t>
            </a:r>
            <a:r>
              <a:rPr lang="lv-LV" dirty="0" err="1"/>
              <a:t>arr[n</a:t>
            </a:r>
            <a:r>
              <a:rPr lang="lv-LV" dirty="0"/>
              <a:t>];</a:t>
            </a:r>
          </a:p>
          <a:p>
            <a:r>
              <a:rPr lang="lv-LV" dirty="0" err="1"/>
              <a:t>cin</a:t>
            </a:r>
            <a:r>
              <a:rPr lang="lv-LV" dirty="0"/>
              <a:t> &gt;&gt;n;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4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4F03E-AA94-22E1-8779-91E36F2E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8BE1B15-6E99-0ED1-459A-07E5616D53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Saraksta apstrāde </a:t>
            </a:r>
            <a:r>
              <a:rPr lang="lv-LV" dirty="0" err="1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9A2942DC-B876-5D71-0125-4F742838E4F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86310" y="2623931"/>
            <a:ext cx="9411789" cy="188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/>
              <a:t>Par plašajām saraksta apstrādes iespējām skatiet e-kursa resursā «</a:t>
            </a:r>
            <a:r>
              <a:rPr lang="lv-LV" dirty="0" err="1"/>
              <a:t>Python</a:t>
            </a:r>
            <a:r>
              <a:rPr lang="lv-LV" dirty="0"/>
              <a:t> 3 programmēšana»</a:t>
            </a:r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endParaRPr lang="lv-LV" sz="2400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855D9EB2-5A8E-0A74-4FA9-B680BFFC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0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20D5-2527-97C7-E174-A06C3204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70B50-724F-817C-F2FC-70E9AC54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Virsraksts 1">
            <a:extLst>
              <a:ext uri="{FF2B5EF4-FFF2-40B4-BE49-F238E27FC236}">
                <a16:creationId xmlns:a16="http://schemas.microsoft.com/office/drawing/2014/main" id="{02E0825C-F95D-858C-F253-EC887C5114E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Funkcijas deklarācijas atdalīšana no realizācijas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477BDB-7B1F-4722-AED7-27F441AB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94" y="1892066"/>
            <a:ext cx="7783011" cy="3353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71051F-BF1C-4EC1-47D4-D66297974FC6}"/>
              </a:ext>
            </a:extLst>
          </p:cNvPr>
          <p:cNvSpPr txBox="1"/>
          <p:nvPr/>
        </p:nvSpPr>
        <p:spPr>
          <a:xfrm>
            <a:off x="1696494" y="5507567"/>
            <a:ext cx="7689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sz="2000" dirty="0"/>
              <a:t>Piemērus skatiet AuPLe0602a.cpp, AuPLe0602b.cpp un AuPLe0602c.cpp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7144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 idx="4294967295"/>
          </p:nvPr>
        </p:nvSpPr>
        <p:spPr>
          <a:xfrm>
            <a:off x="418011" y="440937"/>
            <a:ext cx="11399520" cy="1099996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Izmantotie avoti</a:t>
            </a:r>
            <a:endParaRPr lang="en-US" dirty="0">
              <a:solidFill>
                <a:srgbClr val="1B50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atura vietturis 2"/>
          <p:cNvSpPr>
            <a:spLocks noGrp="1"/>
          </p:cNvSpPr>
          <p:nvPr>
            <p:ph idx="4294967295"/>
          </p:nvPr>
        </p:nvSpPr>
        <p:spPr>
          <a:xfrm>
            <a:off x="418011" y="1709530"/>
            <a:ext cx="11618971" cy="426454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lv-LV" altLang="lv-LV" dirty="0"/>
              <a:t>[1] Jānis </a:t>
            </a:r>
            <a:r>
              <a:rPr lang="lv-LV" altLang="lv-LV" dirty="0" err="1"/>
              <a:t>Zuters</a:t>
            </a:r>
            <a:r>
              <a:rPr lang="lv-LV" altLang="lv-LV" dirty="0"/>
              <a:t>. </a:t>
            </a:r>
            <a:r>
              <a:rPr lang="lv-LV" altLang="lv-LV" i="1" dirty="0"/>
              <a:t>C++ programmēšana. </a:t>
            </a:r>
            <a:r>
              <a:rPr lang="lv-LV" altLang="lv-LV" dirty="0"/>
              <a:t>[skatīts 05.10.2026]. Pieejams ar paroli: </a:t>
            </a:r>
            <a:r>
              <a:rPr lang="lv-LV" altLang="lv-LV" i="1" dirty="0"/>
              <a:t>https://estudijas.lu.lv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lv-LV" altLang="lv-LV" dirty="0"/>
              <a:t>[2] Jānis </a:t>
            </a:r>
            <a:r>
              <a:rPr lang="lv-LV" altLang="lv-LV" dirty="0" err="1"/>
              <a:t>Zuters</a:t>
            </a:r>
            <a:r>
              <a:rPr lang="lv-LV" altLang="lv-LV" dirty="0"/>
              <a:t>. </a:t>
            </a:r>
            <a:r>
              <a:rPr lang="lv-LV" altLang="lv-LV" i="1" dirty="0" err="1"/>
              <a:t>Python</a:t>
            </a:r>
            <a:r>
              <a:rPr lang="lv-LV" altLang="lv-LV" i="1" dirty="0"/>
              <a:t> programmēšana. </a:t>
            </a:r>
            <a:r>
              <a:rPr lang="lv-LV" altLang="lv-LV" dirty="0"/>
              <a:t>[skatīts 05.10.2026]. Pieejams ar paroli: </a:t>
            </a:r>
            <a:r>
              <a:rPr lang="lv-LV" altLang="lv-LV" i="1" dirty="0"/>
              <a:t>https://estudijas.lu.lv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lv-LV" altLang="lv-LV" i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lv-LV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74D3B-0145-4B40-BC41-2631D243DCC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6E7B-050D-0A4C-8CE8-2A62913F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914399"/>
            <a:ext cx="5253317" cy="2805954"/>
          </a:xfrm>
        </p:spPr>
        <p:txBody>
          <a:bodyPr/>
          <a:lstStyle/>
          <a:p>
            <a:pPr algn="ctr"/>
            <a:r>
              <a:rPr lang="lv-LV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Paldies par uzmanību!</a:t>
            </a:r>
            <a:br>
              <a:rPr lang="en-US" dirty="0">
                <a:solidFill>
                  <a:srgbClr val="1B50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4E1D927-5B7B-BE46-ACE5-CA830F4ED15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1" r="15681"/>
          <a:stretch>
            <a:fillRect/>
          </a:stretch>
        </p:blipFill>
        <p:spPr>
          <a:xfrm>
            <a:off x="6059488" y="457200"/>
            <a:ext cx="5567362" cy="5403850"/>
          </a:xfrm>
        </p:spPr>
      </p:pic>
    </p:spTree>
    <p:extLst>
      <p:ext uri="{BB962C8B-B14F-4D97-AF65-F5344CB8AC3E}">
        <p14:creationId xmlns:p14="http://schemas.microsoft.com/office/powerpoint/2010/main" val="69787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490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dizains</vt:lpstr>
      <vt:lpstr>Masīvi C++ un Python.  Funkcijas deklarācijas nodalīšana no realizācijas C++</vt:lpstr>
      <vt:lpstr>Kas ir masīvs</vt:lpstr>
      <vt:lpstr>Masīva noderīgums</vt:lpstr>
      <vt:lpstr>Statisks masīvs un dinamisks masīvs C++</vt:lpstr>
      <vt:lpstr>Saraksta apstrāde Python</vt:lpstr>
      <vt:lpstr>Funkcijas deklarācijas atdalīšana no realizācijas</vt:lpstr>
      <vt:lpstr>Izmantotie avoti</vt:lpstr>
      <vt:lpstr>Paldies par uzmanību!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prezentācija</dc:title>
  <dc:subject/>
  <dc:creator>Uldis Straujums</dc:creator>
  <cp:keywords/>
  <dc:description/>
  <cp:lastModifiedBy>Uldis Straujums</cp:lastModifiedBy>
  <cp:revision>166</cp:revision>
  <dcterms:created xsi:type="dcterms:W3CDTF">2020-06-09T12:17:55Z</dcterms:created>
  <dcterms:modified xsi:type="dcterms:W3CDTF">2026-10-05T14:53:00Z</dcterms:modified>
  <cp:category/>
</cp:coreProperties>
</file>